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0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246E9-E117-C6C1-4F7F-F2527CCFE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8CCFAC-C0CD-AA64-FA86-25951EBAD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07DD9-7471-F2D7-8076-A2C8454B9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7CD8-5010-47D3-83F1-938D4414D2F6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58F90-22AC-7BEF-E5FF-9A32957EF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F8E87-5EB5-B84C-4B0B-1E9998179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BCC2-FB01-4F73-A244-96539440B1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637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03049-C2D2-9259-EF4A-F2187D1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9DEA7-5664-9045-837F-90D4DBA38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54892-2AFE-6A78-B0A2-37B32C93F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7CD8-5010-47D3-83F1-938D4414D2F6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221B8-3276-FC41-9251-F8ACE76E9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6F47D-02AF-4043-7D2B-1E8EA034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BCC2-FB01-4F73-A244-96539440B1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5720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7903E-44E8-C996-335E-B70EE1EF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D3E0F-A7D6-8DFF-5F81-D022417FB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2CCB1-9C13-1049-5787-0E1720C28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7CD8-5010-47D3-83F1-938D4414D2F6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3A07A-4497-AC4B-B7D3-CCFDF0939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0046E-769E-95FF-90C2-AD0872A6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BCC2-FB01-4F73-A244-96539440B1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382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E4886-349A-57CE-A252-7E7EEC5A7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DF4C3-AF3B-F981-9BFE-EC88BE6E4A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8D2D0-9B6F-5B37-4C74-26F2085A5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74353-B21F-C357-3F37-38EBF6BA0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7CD8-5010-47D3-83F1-938D4414D2F6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0AF357-63F2-84A7-A180-A249CD6BD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71162-2D87-50DA-27AE-23AD5EF51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BCC2-FB01-4F73-A244-96539440B1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9790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C1692-5CD1-3719-3A2D-DBCEEA45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BB1F6-A81E-A58B-9F68-10948FFB5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96F6AE-6A1F-17BD-D433-4E6D14348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F7C582-4C0F-AA9E-78C9-8FE0982839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E11669-B473-7453-FB62-492BD95CBA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629088-02FD-4A07-761B-C61979C43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7CD8-5010-47D3-83F1-938D4414D2F6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C2AE7D-9F96-E18C-8636-458C96916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94D69E-C8B7-7322-FD39-21BD2232C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BCC2-FB01-4F73-A244-96539440B1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4051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5FEDA-C9DF-429B-053D-E5E63A5FE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45348E-3363-A18E-DF4A-46E5E6E4C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7CD8-5010-47D3-83F1-938D4414D2F6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7B0CEF-699C-8E22-314B-E5FCA1EF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4426B5-AAE3-AFF5-16DD-E1A6EBC92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BCC2-FB01-4F73-A244-96539440B1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056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0D3A05-8183-899E-08DC-786CCC513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7CD8-5010-47D3-83F1-938D4414D2F6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67A3B6-306C-03C6-ADE5-CA141F421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F5ECB-826C-5BBC-A77E-E615CB4F5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BCC2-FB01-4F73-A244-96539440B1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0616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2FEFB-6280-8BD7-2592-43458A33F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85C40-8595-13E0-1000-FBEBC8BE2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BD43D-B33D-3E65-7A97-6DC64ACB8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1CBF3-4AC5-0B62-BB6E-05DCC6570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7CD8-5010-47D3-83F1-938D4414D2F6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E89952-B512-B7A3-316C-E766CE1EC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E2EA5-294F-83BE-E5CA-EC39532DA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BCC2-FB01-4F73-A244-96539440B1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0566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A1C79-933B-E18A-AED8-DDB2BF731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9D63B5-FECF-7A62-DF66-C7AF37DADF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55205-0529-E577-38BA-23C715C72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44B20-37F3-9891-10DA-0DC141B49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7CD8-5010-47D3-83F1-938D4414D2F6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754F8-9B20-DC10-879F-E1E902D97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6FFEF-3A39-CAC4-B57F-50E85072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BCC2-FB01-4F73-A244-96539440B1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2672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9807F-7EAE-C1DB-DF30-5C531021A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185CD-A287-6479-FD6B-9E05C0602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264DC-CAD7-C4DB-B92C-E6321F2D6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7CD8-5010-47D3-83F1-938D4414D2F6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94B7D-F15E-C785-45E9-454F2AC15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F8E67-DF31-6769-0B44-2270085E0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BCC2-FB01-4F73-A244-96539440B1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4560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A158FC-E927-AA51-640B-5BA325D4AF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46367F-99B0-F091-CA97-42007E2ABD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BF688-93A2-8A2F-DEC6-E88771357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7CD8-5010-47D3-83F1-938D4414D2F6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29BE0-B304-6F56-8954-C5D9AD84D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4363A-29F4-04E8-3DE3-AE407851C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BCC2-FB01-4F73-A244-96539440B1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5423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3574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32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4CEB13-EFF4-B807-FD25-CB14FDEB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B3C95-EB18-0792-A402-5F8B1950A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A5524-52B9-1407-218E-D994E85644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287CD8-5010-47D3-83F1-938D4414D2F6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F199E-C000-DC40-3B7B-5E589E47CC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7D4F5-BF78-0EA5-C733-6AB73C0C9B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8BCC2-FB01-4F73-A244-96539440B1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2103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2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686736" y="432349"/>
            <a:ext cx="7933421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2667" b="1" dirty="0">
                <a:solidFill>
                  <a:srgbClr val="31428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LearnOnlineDakar</a:t>
            </a:r>
            <a:r>
              <a:rPr lang="en-US" sz="2667" b="1" dirty="0">
                <a:solidFill>
                  <a:srgbClr val="C6A96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 </a:t>
            </a:r>
            <a:r>
              <a:rPr lang="en-US" sz="2667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: Votre plateforme de cours en ligne </a:t>
            </a:r>
            <a:r>
              <a:rPr lang="en-US" sz="2667" b="1" dirty="0">
                <a:solidFill>
                  <a:srgbClr val="31428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intuitive</a:t>
            </a:r>
            <a:r>
              <a:rPr lang="en-US" sz="2667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et </a:t>
            </a:r>
            <a:r>
              <a:rPr lang="en-US" sz="2667" b="1" dirty="0">
                <a:solidFill>
                  <a:srgbClr val="C6A96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performante</a:t>
            </a:r>
            <a:endParaRPr lang="en-US" sz="2667" dirty="0">
              <a:solidFill>
                <a:srgbClr val="C6A96F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3A986A7-8D83-313A-306A-D4623F697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42" y="179245"/>
            <a:ext cx="2782872" cy="14344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9580" y="2052813"/>
            <a:ext cx="5526858" cy="177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2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Découvrez une expérience d'apprentissage numérique révolutionnaire, conçue pour les étudiants </a:t>
            </a:r>
            <a:r>
              <a:rPr lang="en-US" sz="20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ambitieux</a:t>
            </a:r>
            <a:r>
              <a:rPr lang="en-US" sz="2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du College Supérieur de Paris. Notre plateforme allie design moderne, performance technique et accessibilité pour transformer votre parcours éducatif.</a:t>
            </a:r>
            <a:endParaRPr 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CFB134-3E54-3293-C79D-F34AD14809F0}"/>
              </a:ext>
            </a:extLst>
          </p:cNvPr>
          <p:cNvSpPr/>
          <p:nvPr/>
        </p:nvSpPr>
        <p:spPr>
          <a:xfrm>
            <a:off x="2190851" y="4345912"/>
            <a:ext cx="2267248" cy="519807"/>
          </a:xfrm>
          <a:prstGeom prst="rect">
            <a:avLst/>
          </a:prstGeom>
          <a:solidFill>
            <a:srgbClr val="C6A96F"/>
          </a:solidFill>
          <a:ln>
            <a:solidFill>
              <a:srgbClr val="F8ECE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500" dirty="0">
                <a:solidFill>
                  <a:srgbClr val="314280"/>
                </a:solidFill>
              </a:rPr>
              <a:t>Se connecter</a:t>
            </a:r>
            <a:r>
              <a:rPr lang="fr-FR" sz="15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96BAFA6A-75F0-4E47-666D-90741FF9B5FB}"/>
              </a:ext>
            </a:extLst>
          </p:cNvPr>
          <p:cNvSpPr/>
          <p:nvPr/>
        </p:nvSpPr>
        <p:spPr>
          <a:xfrm>
            <a:off x="1378386" y="5130592"/>
            <a:ext cx="3892177" cy="963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75"/>
              </a:lnSpc>
            </a:pPr>
            <a:r>
              <a:rPr lang="en-US" sz="1667" dirty="0">
                <a:solidFill>
                  <a:srgbClr val="151617"/>
                </a:solidFill>
                <a:latin typeface="+mj-lt"/>
                <a:ea typeface="Inconsolata" pitchFamily="34" charset="-122"/>
              </a:rPr>
              <a:t>Mot de passe </a:t>
            </a:r>
            <a:r>
              <a:rPr lang="en-US" sz="1667" dirty="0" err="1">
                <a:solidFill>
                  <a:srgbClr val="151617"/>
                </a:solidFill>
                <a:latin typeface="+mj-lt"/>
                <a:ea typeface="Inconsolata" pitchFamily="34" charset="-122"/>
              </a:rPr>
              <a:t>oublié</a:t>
            </a:r>
            <a:r>
              <a:rPr lang="en-US" sz="1667" dirty="0">
                <a:solidFill>
                  <a:srgbClr val="151617"/>
                </a:solidFill>
                <a:latin typeface="+mj-lt"/>
                <a:ea typeface="Inconsolata" pitchFamily="34" charset="-122"/>
              </a:rPr>
              <a:t> ?</a:t>
            </a:r>
          </a:p>
          <a:p>
            <a:pPr algn="ctr">
              <a:lnSpc>
                <a:spcPts val="2375"/>
              </a:lnSpc>
            </a:pPr>
            <a:r>
              <a:rPr lang="en-US" sz="1667" dirty="0">
                <a:solidFill>
                  <a:srgbClr val="151617"/>
                </a:solidFill>
                <a:latin typeface="+mj-lt"/>
                <a:ea typeface="Inconsolata" pitchFamily="34" charset="-122"/>
              </a:rPr>
              <a:t>Vous </a:t>
            </a:r>
            <a:r>
              <a:rPr lang="en-US" sz="1667" dirty="0" err="1">
                <a:solidFill>
                  <a:srgbClr val="151617"/>
                </a:solidFill>
                <a:latin typeface="+mj-lt"/>
                <a:ea typeface="Inconsolata" pitchFamily="34" charset="-122"/>
              </a:rPr>
              <a:t>n’avez</a:t>
            </a:r>
            <a:r>
              <a:rPr lang="en-US" sz="1667" dirty="0">
                <a:solidFill>
                  <a:srgbClr val="151617"/>
                </a:solidFill>
                <a:latin typeface="+mj-lt"/>
                <a:ea typeface="Inconsolata" pitchFamily="34" charset="-122"/>
              </a:rPr>
              <a:t> pas de </a:t>
            </a:r>
            <a:r>
              <a:rPr lang="en-US" sz="1667" dirty="0" err="1">
                <a:solidFill>
                  <a:srgbClr val="151617"/>
                </a:solidFill>
                <a:latin typeface="+mj-lt"/>
                <a:ea typeface="Inconsolata" pitchFamily="34" charset="-122"/>
              </a:rPr>
              <a:t>compte</a:t>
            </a:r>
            <a:r>
              <a:rPr lang="en-US" sz="1667" dirty="0">
                <a:solidFill>
                  <a:srgbClr val="151617"/>
                </a:solidFill>
                <a:latin typeface="+mj-lt"/>
                <a:ea typeface="Inconsolata" pitchFamily="34" charset="-122"/>
              </a:rPr>
              <a:t> ? </a:t>
            </a:r>
            <a:r>
              <a:rPr lang="en-US" sz="1667" dirty="0" err="1">
                <a:solidFill>
                  <a:srgbClr val="151617"/>
                </a:solidFill>
                <a:latin typeface="+mj-lt"/>
                <a:ea typeface="Inconsolata" pitchFamily="34" charset="-122"/>
              </a:rPr>
              <a:t>Inscrivez-vous</a:t>
            </a:r>
            <a:endParaRPr lang="en-US" sz="1667" dirty="0">
              <a:latin typeface="+mj-lt"/>
            </a:endParaRPr>
          </a:p>
        </p:txBody>
      </p:sp>
      <p:pic>
        <p:nvPicPr>
          <p:cNvPr id="7" name="Picture 6" descr="A close-up of a person wearing a backpack">
            <a:extLst>
              <a:ext uri="{FF2B5EF4-FFF2-40B4-BE49-F238E27FC236}">
                <a16:creationId xmlns:a16="http://schemas.microsoft.com/office/drawing/2014/main" id="{9C57BF36-E2C1-014D-DBAE-416B77447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439" y="1760671"/>
            <a:ext cx="4614122" cy="414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631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337D862-CF2B-3365-2FB3-5018235FA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23224" y="167988"/>
            <a:ext cx="6850012" cy="1546512"/>
          </a:xfrm>
          <a:prstGeom prst="rect">
            <a:avLst/>
          </a:prstGeom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42C0DA74-40E5-A13A-0EF6-D757DF785C6C}"/>
              </a:ext>
            </a:extLst>
          </p:cNvPr>
          <p:cNvSpPr/>
          <p:nvPr/>
        </p:nvSpPr>
        <p:spPr>
          <a:xfrm rot="5400000">
            <a:off x="3289155" y="645506"/>
            <a:ext cx="517247" cy="4625797"/>
          </a:xfrm>
          <a:prstGeom prst="roundRect">
            <a:avLst>
              <a:gd name="adj" fmla="val 6959"/>
            </a:avLst>
          </a:prstGeom>
          <a:solidFill>
            <a:srgbClr val="FFFDFA"/>
          </a:solidFill>
          <a:ln w="22860">
            <a:solidFill>
              <a:srgbClr val="C6A96F"/>
            </a:solidFill>
            <a:prstDash val="solid"/>
          </a:ln>
        </p:spPr>
        <p:txBody>
          <a:bodyPr/>
          <a:lstStyle/>
          <a:p>
            <a:endParaRPr lang="fr-FR" sz="15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CF952B2-23C8-430B-D349-A46B4B8DC60F}"/>
              </a:ext>
            </a:extLst>
          </p:cNvPr>
          <p:cNvSpPr/>
          <p:nvPr/>
        </p:nvSpPr>
        <p:spPr>
          <a:xfrm>
            <a:off x="666809" y="2276625"/>
            <a:ext cx="2728573" cy="423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92"/>
              </a:lnSpc>
            </a:pPr>
            <a:r>
              <a:rPr lang="en-US" sz="1500" dirty="0" err="1">
                <a:solidFill>
                  <a:srgbClr val="31428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Courriel</a:t>
            </a:r>
            <a:r>
              <a:rPr lang="en-US" sz="1500" dirty="0">
                <a:solidFill>
                  <a:srgbClr val="31428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/ Nom :</a:t>
            </a:r>
            <a:endParaRPr lang="en-US" sz="1500" dirty="0">
              <a:solidFill>
                <a:srgbClr val="314280"/>
              </a:solidFill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BBDE79D-CD6F-02A8-FA39-72D9B9CDFCEC}"/>
              </a:ext>
            </a:extLst>
          </p:cNvPr>
          <p:cNvSpPr/>
          <p:nvPr/>
        </p:nvSpPr>
        <p:spPr>
          <a:xfrm>
            <a:off x="666809" y="3620670"/>
            <a:ext cx="2728573" cy="423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92"/>
              </a:lnSpc>
            </a:pPr>
            <a:r>
              <a:rPr lang="en-US" sz="1500" dirty="0">
                <a:solidFill>
                  <a:srgbClr val="31428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Mot de passe :</a:t>
            </a:r>
            <a:endParaRPr lang="en-US" sz="1500" dirty="0">
              <a:solidFill>
                <a:srgbClr val="314280"/>
              </a:solidFill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3A849ABB-ABDA-EA45-36FA-F47E3640406A}"/>
              </a:ext>
            </a:extLst>
          </p:cNvPr>
          <p:cNvSpPr/>
          <p:nvPr/>
        </p:nvSpPr>
        <p:spPr>
          <a:xfrm rot="5400000">
            <a:off x="3289155" y="1984927"/>
            <a:ext cx="517247" cy="4625797"/>
          </a:xfrm>
          <a:prstGeom prst="roundRect">
            <a:avLst>
              <a:gd name="adj" fmla="val 6959"/>
            </a:avLst>
          </a:prstGeom>
          <a:solidFill>
            <a:srgbClr val="FFFDFA"/>
          </a:solidFill>
          <a:ln w="22860">
            <a:solidFill>
              <a:srgbClr val="C6A96F"/>
            </a:solidFill>
            <a:prstDash val="solid"/>
          </a:ln>
        </p:spPr>
        <p:txBody>
          <a:bodyPr/>
          <a:lstStyle/>
          <a:p>
            <a:endParaRPr lang="fr-FR" sz="15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17AB063D-8039-00DD-E51E-C71C4EB247D9}"/>
              </a:ext>
            </a:extLst>
          </p:cNvPr>
          <p:cNvSpPr/>
          <p:nvPr/>
        </p:nvSpPr>
        <p:spPr>
          <a:xfrm>
            <a:off x="569691" y="4088560"/>
            <a:ext cx="2728573" cy="423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92"/>
              </a:lnSpc>
            </a:pPr>
            <a:r>
              <a:rPr lang="en-US" sz="1333" dirty="0">
                <a:solidFill>
                  <a:schemeClr val="bg2"/>
                </a:solidFill>
                <a:ea typeface="Libre Baskerville" pitchFamily="34" charset="-122"/>
                <a:cs typeface="Libre Baskerville" pitchFamily="34" charset="-120"/>
              </a:rPr>
              <a:t>Mot de passe :</a:t>
            </a:r>
            <a:endParaRPr lang="en-US" sz="1333" dirty="0">
              <a:solidFill>
                <a:schemeClr val="bg2"/>
              </a:solidFill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846531B6-40E7-44CD-B840-758C6A54BE1D}"/>
              </a:ext>
            </a:extLst>
          </p:cNvPr>
          <p:cNvSpPr/>
          <p:nvPr/>
        </p:nvSpPr>
        <p:spPr>
          <a:xfrm>
            <a:off x="5121088" y="4129040"/>
            <a:ext cx="739589" cy="423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92"/>
              </a:lnSpc>
            </a:pPr>
            <a:r>
              <a:rPr lang="en-US" sz="1500" dirty="0" err="1">
                <a:latin typeface="Libre Baskerville" pitchFamily="34" charset="0"/>
              </a:rPr>
              <a:t>Voir</a:t>
            </a:r>
            <a:endParaRPr lang="en-US" sz="15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46A603DE-0A21-C3D2-0657-8CFF754F61AA}"/>
              </a:ext>
            </a:extLst>
          </p:cNvPr>
          <p:cNvSpPr/>
          <p:nvPr/>
        </p:nvSpPr>
        <p:spPr>
          <a:xfrm>
            <a:off x="666809" y="2793872"/>
            <a:ext cx="2728573" cy="423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92"/>
              </a:lnSpc>
            </a:pPr>
            <a:r>
              <a:rPr lang="en-US" sz="1333" dirty="0" err="1">
                <a:solidFill>
                  <a:schemeClr val="bg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Courriel</a:t>
            </a:r>
            <a:r>
              <a:rPr lang="en-US" sz="1333" dirty="0">
                <a:solidFill>
                  <a:schemeClr val="bg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/ Nom :</a:t>
            </a:r>
            <a:endParaRPr lang="en-US" sz="1333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ED774A-93FA-3834-A804-76F6B9DC93D7}"/>
              </a:ext>
            </a:extLst>
          </p:cNvPr>
          <p:cNvSpPr/>
          <p:nvPr/>
        </p:nvSpPr>
        <p:spPr>
          <a:xfrm>
            <a:off x="2414154" y="5033378"/>
            <a:ext cx="2267248" cy="519807"/>
          </a:xfrm>
          <a:prstGeom prst="rect">
            <a:avLst/>
          </a:prstGeom>
          <a:solidFill>
            <a:srgbClr val="C6A96F"/>
          </a:solidFill>
          <a:ln>
            <a:solidFill>
              <a:srgbClr val="F8ECE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500" dirty="0">
                <a:solidFill>
                  <a:srgbClr val="314280"/>
                </a:solidFill>
              </a:rPr>
              <a:t>Se connecter</a:t>
            </a:r>
            <a:r>
              <a:rPr lang="fr-FR" sz="15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C5C5A5D5-C3C7-E59C-FF5D-96E70ED4909B}"/>
              </a:ext>
            </a:extLst>
          </p:cNvPr>
          <p:cNvSpPr/>
          <p:nvPr/>
        </p:nvSpPr>
        <p:spPr>
          <a:xfrm>
            <a:off x="1598705" y="5726630"/>
            <a:ext cx="3892177" cy="51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75"/>
              </a:lnSpc>
            </a:pPr>
            <a:r>
              <a:rPr lang="en-US" sz="1667" dirty="0">
                <a:solidFill>
                  <a:srgbClr val="151617"/>
                </a:solidFill>
                <a:latin typeface="+mj-lt"/>
                <a:ea typeface="Inconsolata" pitchFamily="34" charset="-122"/>
              </a:rPr>
              <a:t>Mot de passe </a:t>
            </a:r>
            <a:r>
              <a:rPr lang="en-US" sz="1667" dirty="0" err="1">
                <a:solidFill>
                  <a:srgbClr val="151617"/>
                </a:solidFill>
                <a:latin typeface="+mj-lt"/>
                <a:ea typeface="Inconsolata" pitchFamily="34" charset="-122"/>
              </a:rPr>
              <a:t>oublié</a:t>
            </a:r>
            <a:r>
              <a:rPr lang="en-US" sz="1667" dirty="0">
                <a:solidFill>
                  <a:srgbClr val="151617"/>
                </a:solidFill>
                <a:latin typeface="+mj-lt"/>
                <a:ea typeface="Inconsolata" pitchFamily="34" charset="-122"/>
              </a:rPr>
              <a:t> ?</a:t>
            </a:r>
          </a:p>
        </p:txBody>
      </p:sp>
      <p:pic>
        <p:nvPicPr>
          <p:cNvPr id="13" name="Picture 12" descr="A person with braided hair and backpack&#10;&#10;AI-generated content may be incorrect.">
            <a:extLst>
              <a:ext uri="{FF2B5EF4-FFF2-40B4-BE49-F238E27FC236}">
                <a16:creationId xmlns:a16="http://schemas.microsoft.com/office/drawing/2014/main" id="{CAA44D61-223E-66A7-C9E3-0515CE8F2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061" y="2003340"/>
            <a:ext cx="5522009" cy="385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19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1">
            <a:extLst>
              <a:ext uri="{FF2B5EF4-FFF2-40B4-BE49-F238E27FC236}">
                <a16:creationId xmlns:a16="http://schemas.microsoft.com/office/drawing/2014/main" id="{0397CE5D-F613-2A8A-2CDB-FA56EE2D8011}"/>
              </a:ext>
            </a:extLst>
          </p:cNvPr>
          <p:cNvSpPr/>
          <p:nvPr/>
        </p:nvSpPr>
        <p:spPr>
          <a:xfrm rot="5400000">
            <a:off x="8470844" y="2040902"/>
            <a:ext cx="3542835" cy="3760538"/>
          </a:xfrm>
          <a:prstGeom prst="roundRect">
            <a:avLst>
              <a:gd name="adj" fmla="val 6959"/>
            </a:avLst>
          </a:prstGeom>
          <a:solidFill>
            <a:srgbClr val="FFFDFA"/>
          </a:solidFill>
          <a:ln w="22860">
            <a:solidFill>
              <a:srgbClr val="C6A96F"/>
            </a:solidFill>
            <a:prstDash val="solid"/>
          </a:ln>
        </p:spPr>
        <p:txBody>
          <a:bodyPr/>
          <a:lstStyle/>
          <a:p>
            <a:endParaRPr lang="fr-FR" sz="1500" dirty="0"/>
          </a:p>
        </p:txBody>
      </p:sp>
      <p:sp>
        <p:nvSpPr>
          <p:cNvPr id="48" name="Shape 1">
            <a:extLst>
              <a:ext uri="{FF2B5EF4-FFF2-40B4-BE49-F238E27FC236}">
                <a16:creationId xmlns:a16="http://schemas.microsoft.com/office/drawing/2014/main" id="{0F751427-8285-A1EF-4087-F76B162D6F98}"/>
              </a:ext>
            </a:extLst>
          </p:cNvPr>
          <p:cNvSpPr/>
          <p:nvPr/>
        </p:nvSpPr>
        <p:spPr>
          <a:xfrm rot="5400000">
            <a:off x="4470063" y="1916027"/>
            <a:ext cx="3542835" cy="4010288"/>
          </a:xfrm>
          <a:prstGeom prst="roundRect">
            <a:avLst>
              <a:gd name="adj" fmla="val 6959"/>
            </a:avLst>
          </a:prstGeom>
          <a:solidFill>
            <a:srgbClr val="FFFDFA"/>
          </a:solidFill>
          <a:ln w="22860">
            <a:solidFill>
              <a:srgbClr val="C6A96F"/>
            </a:solidFill>
            <a:prstDash val="solid"/>
          </a:ln>
        </p:spPr>
        <p:txBody>
          <a:bodyPr/>
          <a:lstStyle/>
          <a:p>
            <a:endParaRPr lang="fr-FR" sz="1500" dirty="0"/>
          </a:p>
        </p:txBody>
      </p:sp>
      <p:sp>
        <p:nvSpPr>
          <p:cNvPr id="47" name="Shape 1">
            <a:extLst>
              <a:ext uri="{FF2B5EF4-FFF2-40B4-BE49-F238E27FC236}">
                <a16:creationId xmlns:a16="http://schemas.microsoft.com/office/drawing/2014/main" id="{AFBA131E-9D31-9FB5-B4CD-9333D0DB664E}"/>
              </a:ext>
            </a:extLst>
          </p:cNvPr>
          <p:cNvSpPr/>
          <p:nvPr/>
        </p:nvSpPr>
        <p:spPr>
          <a:xfrm rot="5400000">
            <a:off x="323799" y="1895421"/>
            <a:ext cx="3542835" cy="4051499"/>
          </a:xfrm>
          <a:prstGeom prst="roundRect">
            <a:avLst>
              <a:gd name="adj" fmla="val 6959"/>
            </a:avLst>
          </a:prstGeom>
          <a:solidFill>
            <a:srgbClr val="FFFDFA"/>
          </a:solidFill>
          <a:ln w="22860">
            <a:solidFill>
              <a:srgbClr val="C6A96F"/>
            </a:solidFill>
            <a:prstDash val="solid"/>
          </a:ln>
        </p:spPr>
        <p:txBody>
          <a:bodyPr/>
          <a:lstStyle/>
          <a:p>
            <a:endParaRPr lang="fr-FR" sz="1500" dirty="0"/>
          </a:p>
        </p:txBody>
      </p:sp>
      <p:sp>
        <p:nvSpPr>
          <p:cNvPr id="28" name="Shape 1"/>
          <p:cNvSpPr/>
          <p:nvPr/>
        </p:nvSpPr>
        <p:spPr>
          <a:xfrm>
            <a:off x="3316452" y="285301"/>
            <a:ext cx="8460442" cy="737434"/>
          </a:xfrm>
          <a:prstGeom prst="roundRect">
            <a:avLst>
              <a:gd name="adj" fmla="val 6959"/>
            </a:avLst>
          </a:prstGeom>
          <a:solidFill>
            <a:srgbClr val="FFFDFA"/>
          </a:solidFill>
          <a:ln w="22860">
            <a:solidFill>
              <a:srgbClr val="C6A96F"/>
            </a:solidFill>
            <a:prstDash val="solid"/>
          </a:ln>
        </p:spPr>
        <p:txBody>
          <a:bodyPr/>
          <a:lstStyle/>
          <a:p>
            <a:endParaRPr lang="fr-FR" sz="1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3911" y="492530"/>
            <a:ext cx="296909" cy="2969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5C9D60-9AAC-FF00-2F6F-D99B74F79E54}"/>
              </a:ext>
            </a:extLst>
          </p:cNvPr>
          <p:cNvSpPr txBox="1"/>
          <p:nvPr/>
        </p:nvSpPr>
        <p:spPr>
          <a:xfrm>
            <a:off x="3766191" y="440266"/>
            <a:ext cx="1159565" cy="352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3"/>
              </a:lnSpc>
            </a:pPr>
            <a:r>
              <a:rPr lang="en-US" sz="1667" b="1" u="sng" dirty="0" err="1">
                <a:solidFill>
                  <a:srgbClr val="2023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Accueil</a:t>
            </a:r>
            <a:endParaRPr lang="en-US" sz="1667" b="1" u="sng" dirty="0">
              <a:solidFill>
                <a:srgbClr val="202343"/>
              </a:solidFill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8588" y="529766"/>
            <a:ext cx="235430" cy="2354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4DC059-F347-E9DA-D089-977AE003E3DF}"/>
              </a:ext>
            </a:extLst>
          </p:cNvPr>
          <p:cNvSpPr txBox="1"/>
          <p:nvPr/>
        </p:nvSpPr>
        <p:spPr>
          <a:xfrm>
            <a:off x="5231909" y="482448"/>
            <a:ext cx="772754" cy="346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3"/>
              </a:lnSpc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Cours</a:t>
            </a:r>
            <a:endParaRPr lang="en-US" sz="15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82184" y="481514"/>
            <a:ext cx="283683" cy="2836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2411AC-B3AC-4BA1-E7CB-106EF24BC11B}"/>
              </a:ext>
            </a:extLst>
          </p:cNvPr>
          <p:cNvSpPr txBox="1"/>
          <p:nvPr/>
        </p:nvSpPr>
        <p:spPr>
          <a:xfrm>
            <a:off x="6480240" y="446143"/>
            <a:ext cx="960783" cy="346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3"/>
              </a:lnSpc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Notes</a:t>
            </a:r>
            <a:endParaRPr lang="en-US" sz="15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48090" y="482448"/>
            <a:ext cx="271213" cy="27121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7155F3-2580-155F-6DDE-4F012A884546}"/>
              </a:ext>
            </a:extLst>
          </p:cNvPr>
          <p:cNvSpPr txBox="1"/>
          <p:nvPr/>
        </p:nvSpPr>
        <p:spPr>
          <a:xfrm>
            <a:off x="7631075" y="440266"/>
            <a:ext cx="1292087" cy="346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3"/>
              </a:lnSpc>
            </a:pPr>
            <a:r>
              <a:rPr lang="en-US" sz="1500" dirty="0" err="1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Calendrier</a:t>
            </a:r>
            <a:endParaRPr lang="en-US" sz="15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94148" y="459540"/>
            <a:ext cx="294121" cy="29412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9AC67E4-B0A7-F65C-5D36-C8C3ADE0BABC}"/>
              </a:ext>
            </a:extLst>
          </p:cNvPr>
          <p:cNvSpPr txBox="1"/>
          <p:nvPr/>
        </p:nvSpPr>
        <p:spPr>
          <a:xfrm>
            <a:off x="9399601" y="447553"/>
            <a:ext cx="1159564" cy="346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3"/>
              </a:lnSpc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Messages</a:t>
            </a:r>
            <a:endParaRPr lang="en-US" sz="15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659602" y="463244"/>
            <a:ext cx="277688" cy="27768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F9719EE-86C7-4F31-331F-46BC0671ED70}"/>
              </a:ext>
            </a:extLst>
          </p:cNvPr>
          <p:cNvSpPr txBox="1"/>
          <p:nvPr/>
        </p:nvSpPr>
        <p:spPr>
          <a:xfrm>
            <a:off x="10979930" y="411033"/>
            <a:ext cx="849086" cy="346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3"/>
              </a:lnSpc>
            </a:pPr>
            <a:r>
              <a:rPr lang="en-US" sz="1500" dirty="0" err="1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Profil</a:t>
            </a:r>
            <a:endParaRPr lang="en-US" sz="1500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EBEB369D-729A-155C-80D0-90070422E5D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8842" y="179245"/>
            <a:ext cx="2573070" cy="1326262"/>
          </a:xfrm>
          <a:prstGeom prst="rect">
            <a:avLst/>
          </a:prstGeom>
        </p:spPr>
      </p:pic>
      <p:sp>
        <p:nvSpPr>
          <p:cNvPr id="27" name="Shape 1">
            <a:extLst>
              <a:ext uri="{FF2B5EF4-FFF2-40B4-BE49-F238E27FC236}">
                <a16:creationId xmlns:a16="http://schemas.microsoft.com/office/drawing/2014/main" id="{33481D50-CE3D-95CB-B361-C83557910FD1}"/>
              </a:ext>
            </a:extLst>
          </p:cNvPr>
          <p:cNvSpPr/>
          <p:nvPr/>
        </p:nvSpPr>
        <p:spPr>
          <a:xfrm rot="16200000">
            <a:off x="4566090" y="593135"/>
            <a:ext cx="465310" cy="38099"/>
          </a:xfrm>
          <a:prstGeom prst="rect">
            <a:avLst/>
          </a:prstGeom>
          <a:solidFill>
            <a:srgbClr val="C6A96F"/>
          </a:solidFill>
          <a:ln/>
        </p:spPr>
      </p:sp>
      <p:sp>
        <p:nvSpPr>
          <p:cNvPr id="29" name="Text 1"/>
          <p:cNvSpPr/>
          <p:nvPr/>
        </p:nvSpPr>
        <p:spPr>
          <a:xfrm>
            <a:off x="465104" y="2377478"/>
            <a:ext cx="2728573" cy="423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92"/>
              </a:lnSpc>
            </a:pPr>
            <a:r>
              <a:rPr lang="en-US" sz="2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Développement Web</a:t>
            </a:r>
            <a:endParaRPr lang="en-US" sz="2000" dirty="0"/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E16EA627-C7BD-95D5-7E3F-64759C5DADE9}"/>
              </a:ext>
            </a:extLst>
          </p:cNvPr>
          <p:cNvSpPr/>
          <p:nvPr/>
        </p:nvSpPr>
        <p:spPr>
          <a:xfrm rot="16200000">
            <a:off x="5803974" y="628347"/>
            <a:ext cx="465310" cy="38099"/>
          </a:xfrm>
          <a:prstGeom prst="rect">
            <a:avLst/>
          </a:prstGeom>
          <a:solidFill>
            <a:srgbClr val="C6A96F"/>
          </a:solidFill>
          <a:ln/>
        </p:spPr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7DDE2806-8BDD-D919-EA07-ABEBCCCD9E3F}"/>
              </a:ext>
            </a:extLst>
          </p:cNvPr>
          <p:cNvSpPr/>
          <p:nvPr/>
        </p:nvSpPr>
        <p:spPr>
          <a:xfrm rot="16200000">
            <a:off x="7022808" y="634970"/>
            <a:ext cx="465310" cy="38099"/>
          </a:xfrm>
          <a:prstGeom prst="rect">
            <a:avLst/>
          </a:prstGeom>
          <a:solidFill>
            <a:srgbClr val="C6A96F"/>
          </a:solidFill>
          <a:ln/>
        </p:spPr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AB8B77FC-A97A-B0CB-3B6A-94CA0114339F}"/>
              </a:ext>
            </a:extLst>
          </p:cNvPr>
          <p:cNvSpPr/>
          <p:nvPr/>
        </p:nvSpPr>
        <p:spPr>
          <a:xfrm rot="16200000">
            <a:off x="8669268" y="560642"/>
            <a:ext cx="465310" cy="38099"/>
          </a:xfrm>
          <a:prstGeom prst="rect">
            <a:avLst/>
          </a:prstGeom>
          <a:solidFill>
            <a:srgbClr val="C6A96F"/>
          </a:solidFill>
          <a:ln/>
        </p:spPr>
      </p:sp>
      <p:sp>
        <p:nvSpPr>
          <p:cNvPr id="33" name="Shape 1">
            <a:extLst>
              <a:ext uri="{FF2B5EF4-FFF2-40B4-BE49-F238E27FC236}">
                <a16:creationId xmlns:a16="http://schemas.microsoft.com/office/drawing/2014/main" id="{BA6ABCF2-A89A-55BF-A755-5CB70BF314A9}"/>
              </a:ext>
            </a:extLst>
          </p:cNvPr>
          <p:cNvSpPr/>
          <p:nvPr/>
        </p:nvSpPr>
        <p:spPr>
          <a:xfrm rot="16200000">
            <a:off x="10296678" y="586166"/>
            <a:ext cx="465310" cy="38099"/>
          </a:xfrm>
          <a:prstGeom prst="rect">
            <a:avLst/>
          </a:prstGeom>
          <a:solidFill>
            <a:srgbClr val="C6A96F"/>
          </a:solidFill>
          <a:ln/>
        </p:spPr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5CB641BA-F9CA-68C0-70C8-99F48912E2B0}"/>
              </a:ext>
            </a:extLst>
          </p:cNvPr>
          <p:cNvSpPr/>
          <p:nvPr/>
        </p:nvSpPr>
        <p:spPr>
          <a:xfrm>
            <a:off x="661492" y="2783687"/>
            <a:ext cx="23268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75"/>
              </a:lnSpc>
            </a:pPr>
            <a:r>
              <a:rPr lang="en-US" sz="1458" dirty="0">
                <a:solidFill>
                  <a:srgbClr val="454240"/>
                </a:solidFill>
                <a:highlight>
                  <a:srgbClr val="FFD700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En cours</a:t>
            </a: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- 65% complété</a:t>
            </a:r>
            <a:endParaRPr lang="en-US" sz="1458" dirty="0"/>
          </a:p>
        </p:txBody>
      </p:sp>
      <p:sp>
        <p:nvSpPr>
          <p:cNvPr id="35" name="Text 3"/>
          <p:cNvSpPr/>
          <p:nvPr/>
        </p:nvSpPr>
        <p:spPr>
          <a:xfrm>
            <a:off x="491221" y="3330295"/>
            <a:ext cx="3465513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Cours de HTML, CSS et JavaScript pour </a:t>
            </a:r>
            <a:r>
              <a:rPr lang="en-US" sz="1458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créer</a:t>
            </a: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des sites web </a:t>
            </a:r>
            <a:r>
              <a:rPr lang="en-US" sz="1458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modernes</a:t>
            </a: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et </a:t>
            </a:r>
            <a:r>
              <a:rPr lang="en-US" sz="1458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responsives</a:t>
            </a: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</a:t>
            </a:r>
          </a:p>
          <a:p>
            <a:pPr>
              <a:lnSpc>
                <a:spcPts val="2375"/>
              </a:lnSpc>
            </a:pPr>
            <a:endParaRPr lang="en-US" sz="1458" dirty="0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CC091429-924D-F1A3-E8E2-505BF5AFCE52}"/>
              </a:ext>
            </a:extLst>
          </p:cNvPr>
          <p:cNvSpPr/>
          <p:nvPr/>
        </p:nvSpPr>
        <p:spPr>
          <a:xfrm>
            <a:off x="465104" y="4407478"/>
            <a:ext cx="3465513" cy="305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375"/>
              </a:lnSpc>
            </a:pPr>
            <a:r>
              <a:rPr lang="en-US" sz="1458" dirty="0" err="1">
                <a:solidFill>
                  <a:srgbClr val="454240"/>
                </a:solidFill>
                <a:latin typeface="DM Sans" pitchFamily="34" charset="0"/>
              </a:rPr>
              <a:t>ProfesseurS</a:t>
            </a:r>
            <a:r>
              <a:rPr lang="en-US" sz="1458" dirty="0">
                <a:solidFill>
                  <a:srgbClr val="454240"/>
                </a:solidFill>
                <a:latin typeface="DM Sans" pitchFamily="34" charset="0"/>
              </a:rPr>
              <a:t>: MR X</a:t>
            </a:r>
          </a:p>
          <a:p>
            <a:pPr algn="r">
              <a:lnSpc>
                <a:spcPts val="2375"/>
              </a:lnSpc>
            </a:pPr>
            <a:r>
              <a:rPr lang="en-US" sz="1458" dirty="0">
                <a:solidFill>
                  <a:srgbClr val="454240"/>
                </a:solidFill>
                <a:latin typeface="DM Sans" pitchFamily="34" charset="0"/>
              </a:rPr>
              <a:t>MR Y</a:t>
            </a:r>
            <a:endParaRPr lang="en-US" sz="1458" dirty="0"/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C4F4816D-B530-5353-4ABD-E7766039530B}"/>
              </a:ext>
            </a:extLst>
          </p:cNvPr>
          <p:cNvSpPr/>
          <p:nvPr/>
        </p:nvSpPr>
        <p:spPr>
          <a:xfrm>
            <a:off x="4798745" y="2292900"/>
            <a:ext cx="2728573" cy="423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Science des Données</a:t>
            </a:r>
            <a:endParaRPr lang="en-US" sz="2000" dirty="0"/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5CB641BA-F9CA-68C0-70C8-99F48912E2B0}"/>
              </a:ext>
            </a:extLst>
          </p:cNvPr>
          <p:cNvSpPr/>
          <p:nvPr/>
        </p:nvSpPr>
        <p:spPr>
          <a:xfrm>
            <a:off x="4909570" y="2783686"/>
            <a:ext cx="23268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54240"/>
                </a:solidFill>
                <a:highlight>
                  <a:srgbClr val="C0C0C0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À </a:t>
            </a:r>
            <a:r>
              <a:rPr lang="en-US" sz="1458" dirty="0" err="1">
                <a:solidFill>
                  <a:srgbClr val="454240"/>
                </a:solidFill>
                <a:highlight>
                  <a:srgbClr val="C0C0C0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venir</a:t>
            </a:r>
            <a:r>
              <a:rPr lang="en-US" sz="1458" dirty="0">
                <a:solidFill>
                  <a:srgbClr val="454240"/>
                </a:solidFill>
                <a:highlight>
                  <a:srgbClr val="C0C0C0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 Commence le 15 mars</a:t>
            </a:r>
            <a:endParaRPr lang="en-US" sz="1458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630154A4-3C3F-A66E-92F0-F8EE31D07CB6}"/>
              </a:ext>
            </a:extLst>
          </p:cNvPr>
          <p:cNvSpPr/>
          <p:nvPr/>
        </p:nvSpPr>
        <p:spPr>
          <a:xfrm>
            <a:off x="4449428" y="3335341"/>
            <a:ext cx="3465513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Cours de Python, </a:t>
            </a:r>
            <a:r>
              <a:rPr lang="en-US" sz="1458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l'analyse</a:t>
            </a: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58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statistique</a:t>
            </a: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et </a:t>
            </a:r>
            <a:r>
              <a:rPr lang="en-US" sz="1458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l'apprentissage</a:t>
            </a: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58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automatique</a:t>
            </a: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pour </a:t>
            </a:r>
            <a:r>
              <a:rPr lang="en-US" sz="1458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extraire</a:t>
            </a: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des insights.</a:t>
            </a:r>
            <a:endParaRPr lang="en-US" sz="1458" dirty="0"/>
          </a:p>
          <a:p>
            <a:pPr>
              <a:lnSpc>
                <a:spcPts val="2375"/>
              </a:lnSpc>
            </a:pPr>
            <a:endParaRPr lang="en-US" sz="1458" dirty="0"/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003AC1F3-5C20-B39A-C267-AF68147E8796}"/>
              </a:ext>
            </a:extLst>
          </p:cNvPr>
          <p:cNvSpPr/>
          <p:nvPr/>
        </p:nvSpPr>
        <p:spPr>
          <a:xfrm>
            <a:off x="4271906" y="4369612"/>
            <a:ext cx="3465513" cy="305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375"/>
              </a:lnSpc>
            </a:pPr>
            <a:r>
              <a:rPr lang="en-US" sz="1458" dirty="0" err="1">
                <a:solidFill>
                  <a:srgbClr val="454240"/>
                </a:solidFill>
                <a:latin typeface="DM Sans" pitchFamily="34" charset="0"/>
              </a:rPr>
              <a:t>ProfesseurS</a:t>
            </a:r>
            <a:r>
              <a:rPr lang="en-US" sz="1458" dirty="0">
                <a:solidFill>
                  <a:srgbClr val="454240"/>
                </a:solidFill>
                <a:latin typeface="DM Sans" pitchFamily="34" charset="0"/>
              </a:rPr>
              <a:t>: MR X</a:t>
            </a:r>
          </a:p>
          <a:p>
            <a:pPr algn="r">
              <a:lnSpc>
                <a:spcPts val="2375"/>
              </a:lnSpc>
            </a:pPr>
            <a:r>
              <a:rPr lang="en-US" sz="1458" dirty="0">
                <a:solidFill>
                  <a:srgbClr val="454240"/>
                </a:solidFill>
                <a:latin typeface="DM Sans" pitchFamily="34" charset="0"/>
              </a:rPr>
              <a:t>MR Y</a:t>
            </a:r>
            <a:endParaRPr lang="en-US" sz="1458" dirty="0"/>
          </a:p>
        </p:txBody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1BA4C93E-18D5-C002-A22E-694763D1F5E8}"/>
              </a:ext>
            </a:extLst>
          </p:cNvPr>
          <p:cNvSpPr/>
          <p:nvPr/>
        </p:nvSpPr>
        <p:spPr>
          <a:xfrm>
            <a:off x="8882874" y="2273017"/>
            <a:ext cx="2728573" cy="423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92"/>
              </a:lnSpc>
            </a:pPr>
            <a:r>
              <a:rPr lang="en-US" sz="2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Marketing Digital</a:t>
            </a:r>
            <a:endParaRPr lang="en-US" sz="2000" dirty="0"/>
          </a:p>
        </p:txBody>
      </p:sp>
      <p:sp>
        <p:nvSpPr>
          <p:cNvPr id="44" name="Text 2">
            <a:extLst>
              <a:ext uri="{FF2B5EF4-FFF2-40B4-BE49-F238E27FC236}">
                <a16:creationId xmlns:a16="http://schemas.microsoft.com/office/drawing/2014/main" id="{8823E793-2CA5-1133-47CC-21D4F3E2DA8E}"/>
              </a:ext>
            </a:extLst>
          </p:cNvPr>
          <p:cNvSpPr/>
          <p:nvPr/>
        </p:nvSpPr>
        <p:spPr>
          <a:xfrm>
            <a:off x="8998326" y="2716056"/>
            <a:ext cx="23268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54240"/>
                </a:solidFill>
                <a:highlight>
                  <a:srgbClr val="FFD700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En </a:t>
            </a:r>
            <a:r>
              <a:rPr lang="en-US" sz="1458" dirty="0" err="1">
                <a:solidFill>
                  <a:srgbClr val="454240"/>
                </a:solidFill>
                <a:highlight>
                  <a:srgbClr val="FFD700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cours</a:t>
            </a:r>
            <a:r>
              <a:rPr lang="en-US" sz="1458" dirty="0">
                <a:solidFill>
                  <a:srgbClr val="454240"/>
                </a:solidFill>
                <a:highlight>
                  <a:srgbClr val="FFD700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- 40% </a:t>
            </a:r>
            <a:r>
              <a:rPr lang="en-US" sz="1458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complété</a:t>
            </a:r>
            <a:endParaRPr lang="en-US" sz="1458" dirty="0"/>
          </a:p>
        </p:txBody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630A9D5F-6B2B-0215-F6AC-3EA9A59A12BB}"/>
              </a:ext>
            </a:extLst>
          </p:cNvPr>
          <p:cNvSpPr/>
          <p:nvPr/>
        </p:nvSpPr>
        <p:spPr>
          <a:xfrm>
            <a:off x="8698230" y="3100877"/>
            <a:ext cx="3465513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Cours de </a:t>
            </a:r>
            <a:r>
              <a:rPr lang="en-US" sz="1458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stratégies</a:t>
            </a: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SEO, réseaux </a:t>
            </a:r>
            <a:r>
              <a:rPr lang="en-US" sz="1458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sociaux</a:t>
            </a: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et </a:t>
            </a:r>
            <a:r>
              <a:rPr lang="en-US" sz="1458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publicité</a:t>
            </a: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58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</a:t>
            </a: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58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ligne</a:t>
            </a: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pour booster </a:t>
            </a:r>
            <a:r>
              <a:rPr lang="en-US" sz="1458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votre</a:t>
            </a: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58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présence</a:t>
            </a: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58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digitale</a:t>
            </a: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58" dirty="0"/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ABBEBD46-A038-700B-1E0C-F770CA61958F}"/>
              </a:ext>
            </a:extLst>
          </p:cNvPr>
          <p:cNvSpPr/>
          <p:nvPr/>
        </p:nvSpPr>
        <p:spPr>
          <a:xfrm>
            <a:off x="8246625" y="4254763"/>
            <a:ext cx="3465513" cy="305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375"/>
              </a:lnSpc>
            </a:pPr>
            <a:r>
              <a:rPr lang="en-US" sz="1458" dirty="0" err="1">
                <a:solidFill>
                  <a:srgbClr val="454240"/>
                </a:solidFill>
                <a:latin typeface="DM Sans" pitchFamily="34" charset="0"/>
              </a:rPr>
              <a:t>ProfesseurS</a:t>
            </a:r>
            <a:r>
              <a:rPr lang="en-US" sz="1458" dirty="0">
                <a:solidFill>
                  <a:srgbClr val="454240"/>
                </a:solidFill>
                <a:latin typeface="DM Sans" pitchFamily="34" charset="0"/>
              </a:rPr>
              <a:t>: MR X</a:t>
            </a:r>
          </a:p>
          <a:p>
            <a:pPr algn="r">
              <a:lnSpc>
                <a:spcPts val="2375"/>
              </a:lnSpc>
            </a:pPr>
            <a:r>
              <a:rPr lang="en-US" sz="1458" dirty="0">
                <a:solidFill>
                  <a:srgbClr val="454240"/>
                </a:solidFill>
                <a:latin typeface="DM Sans" pitchFamily="34" charset="0"/>
              </a:rPr>
              <a:t>MR Y</a:t>
            </a:r>
            <a:endParaRPr lang="en-US" sz="1458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B398C11-E985-5D1E-1E3A-C29AD8766A4D}"/>
              </a:ext>
            </a:extLst>
          </p:cNvPr>
          <p:cNvSpPr/>
          <p:nvPr/>
        </p:nvSpPr>
        <p:spPr>
          <a:xfrm>
            <a:off x="5059121" y="5018617"/>
            <a:ext cx="2267248" cy="519807"/>
          </a:xfrm>
          <a:custGeom>
            <a:avLst/>
            <a:gdLst>
              <a:gd name="connsiteX0" fmla="*/ 0 w 2267248"/>
              <a:gd name="connsiteY0" fmla="*/ 0 h 519807"/>
              <a:gd name="connsiteX1" fmla="*/ 544140 w 2267248"/>
              <a:gd name="connsiteY1" fmla="*/ 0 h 519807"/>
              <a:gd name="connsiteX2" fmla="*/ 1133624 w 2267248"/>
              <a:gd name="connsiteY2" fmla="*/ 0 h 519807"/>
              <a:gd name="connsiteX3" fmla="*/ 1655091 w 2267248"/>
              <a:gd name="connsiteY3" fmla="*/ 0 h 519807"/>
              <a:gd name="connsiteX4" fmla="*/ 2267248 w 2267248"/>
              <a:gd name="connsiteY4" fmla="*/ 0 h 519807"/>
              <a:gd name="connsiteX5" fmla="*/ 2267248 w 2267248"/>
              <a:gd name="connsiteY5" fmla="*/ 519807 h 519807"/>
              <a:gd name="connsiteX6" fmla="*/ 1655091 w 2267248"/>
              <a:gd name="connsiteY6" fmla="*/ 519807 h 519807"/>
              <a:gd name="connsiteX7" fmla="*/ 1088279 w 2267248"/>
              <a:gd name="connsiteY7" fmla="*/ 519807 h 519807"/>
              <a:gd name="connsiteX8" fmla="*/ 0 w 2267248"/>
              <a:gd name="connsiteY8" fmla="*/ 519807 h 519807"/>
              <a:gd name="connsiteX9" fmla="*/ 0 w 2267248"/>
              <a:gd name="connsiteY9" fmla="*/ 0 h 519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67248" h="519807" fill="none" extrusionOk="0">
                <a:moveTo>
                  <a:pt x="0" y="0"/>
                </a:moveTo>
                <a:cubicBezTo>
                  <a:pt x="167075" y="-26810"/>
                  <a:pt x="398026" y="24455"/>
                  <a:pt x="544140" y="0"/>
                </a:cubicBezTo>
                <a:cubicBezTo>
                  <a:pt x="690254" y="-24455"/>
                  <a:pt x="984200" y="-28603"/>
                  <a:pt x="1133624" y="0"/>
                </a:cubicBezTo>
                <a:cubicBezTo>
                  <a:pt x="1283048" y="28603"/>
                  <a:pt x="1487677" y="-1020"/>
                  <a:pt x="1655091" y="0"/>
                </a:cubicBezTo>
                <a:cubicBezTo>
                  <a:pt x="1822505" y="1020"/>
                  <a:pt x="1976562" y="6793"/>
                  <a:pt x="2267248" y="0"/>
                </a:cubicBezTo>
                <a:cubicBezTo>
                  <a:pt x="2279225" y="108078"/>
                  <a:pt x="2270935" y="275333"/>
                  <a:pt x="2267248" y="519807"/>
                </a:cubicBezTo>
                <a:cubicBezTo>
                  <a:pt x="2001464" y="505044"/>
                  <a:pt x="1912070" y="514767"/>
                  <a:pt x="1655091" y="519807"/>
                </a:cubicBezTo>
                <a:cubicBezTo>
                  <a:pt x="1398112" y="524847"/>
                  <a:pt x="1202144" y="521658"/>
                  <a:pt x="1088279" y="519807"/>
                </a:cubicBezTo>
                <a:cubicBezTo>
                  <a:pt x="974414" y="517956"/>
                  <a:pt x="268565" y="528099"/>
                  <a:pt x="0" y="519807"/>
                </a:cubicBezTo>
                <a:cubicBezTo>
                  <a:pt x="-7900" y="385449"/>
                  <a:pt x="-11584" y="160274"/>
                  <a:pt x="0" y="0"/>
                </a:cubicBezTo>
                <a:close/>
              </a:path>
              <a:path w="2267248" h="519807" stroke="0" extrusionOk="0">
                <a:moveTo>
                  <a:pt x="0" y="0"/>
                </a:moveTo>
                <a:cubicBezTo>
                  <a:pt x="148296" y="1828"/>
                  <a:pt x="298572" y="7876"/>
                  <a:pt x="566812" y="0"/>
                </a:cubicBezTo>
                <a:cubicBezTo>
                  <a:pt x="835052" y="-7876"/>
                  <a:pt x="942305" y="15854"/>
                  <a:pt x="1178969" y="0"/>
                </a:cubicBezTo>
                <a:cubicBezTo>
                  <a:pt x="1415633" y="-15854"/>
                  <a:pt x="1523810" y="20386"/>
                  <a:pt x="1723108" y="0"/>
                </a:cubicBezTo>
                <a:cubicBezTo>
                  <a:pt x="1922406" y="-20386"/>
                  <a:pt x="2080599" y="11334"/>
                  <a:pt x="2267248" y="0"/>
                </a:cubicBezTo>
                <a:cubicBezTo>
                  <a:pt x="2275565" y="159945"/>
                  <a:pt x="2290746" y="362108"/>
                  <a:pt x="2267248" y="519807"/>
                </a:cubicBezTo>
                <a:cubicBezTo>
                  <a:pt x="2080248" y="540838"/>
                  <a:pt x="2005743" y="534550"/>
                  <a:pt x="1745781" y="519807"/>
                </a:cubicBezTo>
                <a:cubicBezTo>
                  <a:pt x="1485819" y="505064"/>
                  <a:pt x="1388625" y="495504"/>
                  <a:pt x="1133624" y="519807"/>
                </a:cubicBezTo>
                <a:cubicBezTo>
                  <a:pt x="878623" y="544110"/>
                  <a:pt x="715446" y="523118"/>
                  <a:pt x="566812" y="519807"/>
                </a:cubicBezTo>
                <a:cubicBezTo>
                  <a:pt x="418178" y="516496"/>
                  <a:pt x="180789" y="510538"/>
                  <a:pt x="0" y="519807"/>
                </a:cubicBezTo>
                <a:cubicBezTo>
                  <a:pt x="1496" y="308657"/>
                  <a:pt x="-22851" y="108604"/>
                  <a:pt x="0" y="0"/>
                </a:cubicBezTo>
                <a:close/>
              </a:path>
            </a:pathLst>
          </a:custGeom>
          <a:solidFill>
            <a:srgbClr val="314280"/>
          </a:solidFill>
          <a:ln>
            <a:solidFill>
              <a:srgbClr val="C6A96F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38393273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500" dirty="0">
                <a:solidFill>
                  <a:srgbClr val="C6A96F"/>
                </a:solidFill>
              </a:rPr>
              <a:t>INDISPONIBLE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0CD1A08-A0A7-A24A-7482-992F179D2B5E}"/>
              </a:ext>
            </a:extLst>
          </p:cNvPr>
          <p:cNvSpPr/>
          <p:nvPr/>
        </p:nvSpPr>
        <p:spPr>
          <a:xfrm>
            <a:off x="1049204" y="4942844"/>
            <a:ext cx="2267248" cy="519807"/>
          </a:xfrm>
          <a:custGeom>
            <a:avLst/>
            <a:gdLst>
              <a:gd name="connsiteX0" fmla="*/ 0 w 2267248"/>
              <a:gd name="connsiteY0" fmla="*/ 0 h 519807"/>
              <a:gd name="connsiteX1" fmla="*/ 544140 w 2267248"/>
              <a:gd name="connsiteY1" fmla="*/ 0 h 519807"/>
              <a:gd name="connsiteX2" fmla="*/ 1133624 w 2267248"/>
              <a:gd name="connsiteY2" fmla="*/ 0 h 519807"/>
              <a:gd name="connsiteX3" fmla="*/ 1655091 w 2267248"/>
              <a:gd name="connsiteY3" fmla="*/ 0 h 519807"/>
              <a:gd name="connsiteX4" fmla="*/ 2267248 w 2267248"/>
              <a:gd name="connsiteY4" fmla="*/ 0 h 519807"/>
              <a:gd name="connsiteX5" fmla="*/ 2267248 w 2267248"/>
              <a:gd name="connsiteY5" fmla="*/ 519807 h 519807"/>
              <a:gd name="connsiteX6" fmla="*/ 1655091 w 2267248"/>
              <a:gd name="connsiteY6" fmla="*/ 519807 h 519807"/>
              <a:gd name="connsiteX7" fmla="*/ 1088279 w 2267248"/>
              <a:gd name="connsiteY7" fmla="*/ 519807 h 519807"/>
              <a:gd name="connsiteX8" fmla="*/ 0 w 2267248"/>
              <a:gd name="connsiteY8" fmla="*/ 519807 h 519807"/>
              <a:gd name="connsiteX9" fmla="*/ 0 w 2267248"/>
              <a:gd name="connsiteY9" fmla="*/ 0 h 519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67248" h="519807" fill="none" extrusionOk="0">
                <a:moveTo>
                  <a:pt x="0" y="0"/>
                </a:moveTo>
                <a:cubicBezTo>
                  <a:pt x="167075" y="-26810"/>
                  <a:pt x="398026" y="24455"/>
                  <a:pt x="544140" y="0"/>
                </a:cubicBezTo>
                <a:cubicBezTo>
                  <a:pt x="690254" y="-24455"/>
                  <a:pt x="984200" y="-28603"/>
                  <a:pt x="1133624" y="0"/>
                </a:cubicBezTo>
                <a:cubicBezTo>
                  <a:pt x="1283048" y="28603"/>
                  <a:pt x="1487677" y="-1020"/>
                  <a:pt x="1655091" y="0"/>
                </a:cubicBezTo>
                <a:cubicBezTo>
                  <a:pt x="1822505" y="1020"/>
                  <a:pt x="1976562" y="6793"/>
                  <a:pt x="2267248" y="0"/>
                </a:cubicBezTo>
                <a:cubicBezTo>
                  <a:pt x="2279225" y="108078"/>
                  <a:pt x="2270935" y="275333"/>
                  <a:pt x="2267248" y="519807"/>
                </a:cubicBezTo>
                <a:cubicBezTo>
                  <a:pt x="2001464" y="505044"/>
                  <a:pt x="1912070" y="514767"/>
                  <a:pt x="1655091" y="519807"/>
                </a:cubicBezTo>
                <a:cubicBezTo>
                  <a:pt x="1398112" y="524847"/>
                  <a:pt x="1202144" y="521658"/>
                  <a:pt x="1088279" y="519807"/>
                </a:cubicBezTo>
                <a:cubicBezTo>
                  <a:pt x="974414" y="517956"/>
                  <a:pt x="268565" y="528099"/>
                  <a:pt x="0" y="519807"/>
                </a:cubicBezTo>
                <a:cubicBezTo>
                  <a:pt x="-7900" y="385449"/>
                  <a:pt x="-11584" y="160274"/>
                  <a:pt x="0" y="0"/>
                </a:cubicBezTo>
                <a:close/>
              </a:path>
              <a:path w="2267248" h="519807" stroke="0" extrusionOk="0">
                <a:moveTo>
                  <a:pt x="0" y="0"/>
                </a:moveTo>
                <a:cubicBezTo>
                  <a:pt x="148296" y="1828"/>
                  <a:pt x="298572" y="7876"/>
                  <a:pt x="566812" y="0"/>
                </a:cubicBezTo>
                <a:cubicBezTo>
                  <a:pt x="835052" y="-7876"/>
                  <a:pt x="942305" y="15854"/>
                  <a:pt x="1178969" y="0"/>
                </a:cubicBezTo>
                <a:cubicBezTo>
                  <a:pt x="1415633" y="-15854"/>
                  <a:pt x="1523810" y="20386"/>
                  <a:pt x="1723108" y="0"/>
                </a:cubicBezTo>
                <a:cubicBezTo>
                  <a:pt x="1922406" y="-20386"/>
                  <a:pt x="2080599" y="11334"/>
                  <a:pt x="2267248" y="0"/>
                </a:cubicBezTo>
                <a:cubicBezTo>
                  <a:pt x="2275565" y="159945"/>
                  <a:pt x="2290746" y="362108"/>
                  <a:pt x="2267248" y="519807"/>
                </a:cubicBezTo>
                <a:cubicBezTo>
                  <a:pt x="2080248" y="540838"/>
                  <a:pt x="2005743" y="534550"/>
                  <a:pt x="1745781" y="519807"/>
                </a:cubicBezTo>
                <a:cubicBezTo>
                  <a:pt x="1485819" y="505064"/>
                  <a:pt x="1388625" y="495504"/>
                  <a:pt x="1133624" y="519807"/>
                </a:cubicBezTo>
                <a:cubicBezTo>
                  <a:pt x="878623" y="544110"/>
                  <a:pt x="715446" y="523118"/>
                  <a:pt x="566812" y="519807"/>
                </a:cubicBezTo>
                <a:cubicBezTo>
                  <a:pt x="418178" y="516496"/>
                  <a:pt x="180789" y="510538"/>
                  <a:pt x="0" y="519807"/>
                </a:cubicBezTo>
                <a:cubicBezTo>
                  <a:pt x="1496" y="308657"/>
                  <a:pt x="-22851" y="108604"/>
                  <a:pt x="0" y="0"/>
                </a:cubicBezTo>
                <a:close/>
              </a:path>
            </a:pathLst>
          </a:custGeom>
          <a:solidFill>
            <a:srgbClr val="C6A96F"/>
          </a:solidFill>
          <a:ln>
            <a:solidFill>
              <a:srgbClr val="C6A96F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38393273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500" dirty="0">
                <a:solidFill>
                  <a:srgbClr val="314280"/>
                </a:solidFill>
              </a:rPr>
              <a:t>Accéder aux cours 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0C17EAB-280F-AEC9-7397-D8AD08A3EBA4}"/>
              </a:ext>
            </a:extLst>
          </p:cNvPr>
          <p:cNvSpPr/>
          <p:nvPr/>
        </p:nvSpPr>
        <p:spPr>
          <a:xfrm>
            <a:off x="9137224" y="5018617"/>
            <a:ext cx="2267248" cy="519807"/>
          </a:xfrm>
          <a:custGeom>
            <a:avLst/>
            <a:gdLst>
              <a:gd name="connsiteX0" fmla="*/ 0 w 2267248"/>
              <a:gd name="connsiteY0" fmla="*/ 0 h 519807"/>
              <a:gd name="connsiteX1" fmla="*/ 544140 w 2267248"/>
              <a:gd name="connsiteY1" fmla="*/ 0 h 519807"/>
              <a:gd name="connsiteX2" fmla="*/ 1133624 w 2267248"/>
              <a:gd name="connsiteY2" fmla="*/ 0 h 519807"/>
              <a:gd name="connsiteX3" fmla="*/ 1655091 w 2267248"/>
              <a:gd name="connsiteY3" fmla="*/ 0 h 519807"/>
              <a:gd name="connsiteX4" fmla="*/ 2267248 w 2267248"/>
              <a:gd name="connsiteY4" fmla="*/ 0 h 519807"/>
              <a:gd name="connsiteX5" fmla="*/ 2267248 w 2267248"/>
              <a:gd name="connsiteY5" fmla="*/ 519807 h 519807"/>
              <a:gd name="connsiteX6" fmla="*/ 1655091 w 2267248"/>
              <a:gd name="connsiteY6" fmla="*/ 519807 h 519807"/>
              <a:gd name="connsiteX7" fmla="*/ 1088279 w 2267248"/>
              <a:gd name="connsiteY7" fmla="*/ 519807 h 519807"/>
              <a:gd name="connsiteX8" fmla="*/ 0 w 2267248"/>
              <a:gd name="connsiteY8" fmla="*/ 519807 h 519807"/>
              <a:gd name="connsiteX9" fmla="*/ 0 w 2267248"/>
              <a:gd name="connsiteY9" fmla="*/ 0 h 519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67248" h="519807" fill="none" extrusionOk="0">
                <a:moveTo>
                  <a:pt x="0" y="0"/>
                </a:moveTo>
                <a:cubicBezTo>
                  <a:pt x="167075" y="-26810"/>
                  <a:pt x="398026" y="24455"/>
                  <a:pt x="544140" y="0"/>
                </a:cubicBezTo>
                <a:cubicBezTo>
                  <a:pt x="690254" y="-24455"/>
                  <a:pt x="984200" y="-28603"/>
                  <a:pt x="1133624" y="0"/>
                </a:cubicBezTo>
                <a:cubicBezTo>
                  <a:pt x="1283048" y="28603"/>
                  <a:pt x="1487677" y="-1020"/>
                  <a:pt x="1655091" y="0"/>
                </a:cubicBezTo>
                <a:cubicBezTo>
                  <a:pt x="1822505" y="1020"/>
                  <a:pt x="1976562" y="6793"/>
                  <a:pt x="2267248" y="0"/>
                </a:cubicBezTo>
                <a:cubicBezTo>
                  <a:pt x="2279225" y="108078"/>
                  <a:pt x="2270935" y="275333"/>
                  <a:pt x="2267248" y="519807"/>
                </a:cubicBezTo>
                <a:cubicBezTo>
                  <a:pt x="2001464" y="505044"/>
                  <a:pt x="1912070" y="514767"/>
                  <a:pt x="1655091" y="519807"/>
                </a:cubicBezTo>
                <a:cubicBezTo>
                  <a:pt x="1398112" y="524847"/>
                  <a:pt x="1202144" y="521658"/>
                  <a:pt x="1088279" y="519807"/>
                </a:cubicBezTo>
                <a:cubicBezTo>
                  <a:pt x="974414" y="517956"/>
                  <a:pt x="268565" y="528099"/>
                  <a:pt x="0" y="519807"/>
                </a:cubicBezTo>
                <a:cubicBezTo>
                  <a:pt x="-7900" y="385449"/>
                  <a:pt x="-11584" y="160274"/>
                  <a:pt x="0" y="0"/>
                </a:cubicBezTo>
                <a:close/>
              </a:path>
              <a:path w="2267248" h="519807" stroke="0" extrusionOk="0">
                <a:moveTo>
                  <a:pt x="0" y="0"/>
                </a:moveTo>
                <a:cubicBezTo>
                  <a:pt x="148296" y="1828"/>
                  <a:pt x="298572" y="7876"/>
                  <a:pt x="566812" y="0"/>
                </a:cubicBezTo>
                <a:cubicBezTo>
                  <a:pt x="835052" y="-7876"/>
                  <a:pt x="942305" y="15854"/>
                  <a:pt x="1178969" y="0"/>
                </a:cubicBezTo>
                <a:cubicBezTo>
                  <a:pt x="1415633" y="-15854"/>
                  <a:pt x="1523810" y="20386"/>
                  <a:pt x="1723108" y="0"/>
                </a:cubicBezTo>
                <a:cubicBezTo>
                  <a:pt x="1922406" y="-20386"/>
                  <a:pt x="2080599" y="11334"/>
                  <a:pt x="2267248" y="0"/>
                </a:cubicBezTo>
                <a:cubicBezTo>
                  <a:pt x="2275565" y="159945"/>
                  <a:pt x="2290746" y="362108"/>
                  <a:pt x="2267248" y="519807"/>
                </a:cubicBezTo>
                <a:cubicBezTo>
                  <a:pt x="2080248" y="540838"/>
                  <a:pt x="2005743" y="534550"/>
                  <a:pt x="1745781" y="519807"/>
                </a:cubicBezTo>
                <a:cubicBezTo>
                  <a:pt x="1485819" y="505064"/>
                  <a:pt x="1388625" y="495504"/>
                  <a:pt x="1133624" y="519807"/>
                </a:cubicBezTo>
                <a:cubicBezTo>
                  <a:pt x="878623" y="544110"/>
                  <a:pt x="715446" y="523118"/>
                  <a:pt x="566812" y="519807"/>
                </a:cubicBezTo>
                <a:cubicBezTo>
                  <a:pt x="418178" y="516496"/>
                  <a:pt x="180789" y="510538"/>
                  <a:pt x="0" y="519807"/>
                </a:cubicBezTo>
                <a:cubicBezTo>
                  <a:pt x="1496" y="308657"/>
                  <a:pt x="-22851" y="108604"/>
                  <a:pt x="0" y="0"/>
                </a:cubicBezTo>
                <a:close/>
              </a:path>
            </a:pathLst>
          </a:custGeom>
          <a:solidFill>
            <a:srgbClr val="C6A96F"/>
          </a:solidFill>
          <a:ln>
            <a:solidFill>
              <a:srgbClr val="C6A96F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38393273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500" dirty="0">
                <a:solidFill>
                  <a:srgbClr val="314280"/>
                </a:solidFill>
              </a:rPr>
              <a:t>Accéder aux cours </a:t>
            </a:r>
          </a:p>
        </p:txBody>
      </p:sp>
    </p:spTree>
    <p:extLst>
      <p:ext uri="{BB962C8B-B14F-4D97-AF65-F5344CB8AC3E}">
        <p14:creationId xmlns:p14="http://schemas.microsoft.com/office/powerpoint/2010/main" val="3434688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187</Words>
  <Application>Microsoft Office PowerPoint</Application>
  <PresentationFormat>Widescreen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Aptos</vt:lpstr>
      <vt:lpstr>Aptos Display</vt:lpstr>
      <vt:lpstr>Arial</vt:lpstr>
      <vt:lpstr>DM Sans</vt:lpstr>
      <vt:lpstr>Inconsolata</vt:lpstr>
      <vt:lpstr>Libre Baskerville</vt:lpstr>
      <vt:lpstr>Montserrat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seyda marieme kane</dc:creator>
  <cp:lastModifiedBy>seyda marieme kane</cp:lastModifiedBy>
  <cp:revision>1</cp:revision>
  <dcterms:created xsi:type="dcterms:W3CDTF">2025-11-27T18:24:16Z</dcterms:created>
  <dcterms:modified xsi:type="dcterms:W3CDTF">2025-11-27T18:29:12Z</dcterms:modified>
</cp:coreProperties>
</file>